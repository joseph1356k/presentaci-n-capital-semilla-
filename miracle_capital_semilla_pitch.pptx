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SEMILLA 2026 · RUTA DEL EMPRENDIMIENTO MEDELLÍN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520842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médico está perdiendo tiempo clínico frente al computador.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2240280"/>
            <a:ext cx="520842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84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cada 1 hora con pacientes, casi 2 horas pueden irse en registros y tareas de escritorio.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2971800"/>
            <a:ext cx="52084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Sinsky et al., Annals of Internal Medicine, 2016 — médicos en consulta ambulatoria dedicaron 27,0% de su tiempo al contacto clínico directo y 49,2% a EHR/tareas de escritorio, con 1–2 horas adicionales cada noche en documentación.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036869" y="731520"/>
            <a:ext cx="2604211" cy="1783080"/>
          </a:xfrm>
          <a:prstGeom prst="roundRect">
            <a:avLst>
              <a:gd name="adj" fmla="val 4615"/>
            </a:avLst>
          </a:prstGeom>
          <a:solidFill>
            <a:srgbClr val="EAF3FF"/>
          </a:solidFill>
          <a:ln w="9525">
            <a:solidFill>
              <a:srgbClr val="CFE4FB"/>
            </a:solidFill>
            <a:prstDash val="solid"/>
          </a:ln>
          <a:effectLst>
            <a:outerShdw sx="100000" sy="100000" kx="0" ky="0" algn="bl" rotWithShape="0" blurRad="101600" dist="25400" dir="5400000">
              <a:srgbClr val="0A3D91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046366" y="896112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8297" y="978042"/>
            <a:ext cx="421356" cy="4213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174029" y="1572768"/>
            <a:ext cx="23298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174029" y="1773936"/>
            <a:ext cx="23298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84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tras consulta, con el paciente al frente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036869" y="2697480"/>
            <a:ext cx="2604211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A3D91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046366" y="2862072"/>
            <a:ext cx="585216" cy="585216"/>
          </a:xfrm>
          <a:prstGeom prst="ellipse">
            <a:avLst/>
          </a:prstGeom>
          <a:solidFill>
            <a:srgbClr val="EAF3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297" y="2944002"/>
            <a:ext cx="421356" cy="4213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174029" y="3538728"/>
            <a:ext cx="23298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Noche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174029" y="3739896"/>
            <a:ext cx="23298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médico, a las 10 p.m., todavía llenando historias clínicas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solo el médico. El costo lo paga todo el sistema.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254203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A3D91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691640"/>
            <a:ext cx="384048" cy="384048"/>
          </a:xfrm>
          <a:prstGeom prst="ellipse">
            <a:avLst/>
          </a:prstGeom>
          <a:solidFill>
            <a:srgbClr val="EAF3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855" y="1745407"/>
            <a:ext cx="276515" cy="2765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4088" y="216712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Médico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04088" y="2468880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84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carga administrativa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84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tiempo clínico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84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 agotamiento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00984" y="1508760"/>
            <a:ext cx="254203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A3D91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02152" y="1691640"/>
            <a:ext cx="384048" cy="384048"/>
          </a:xfrm>
          <a:prstGeom prst="ellipse">
            <a:avLst/>
          </a:prstGeom>
          <a:solidFill>
            <a:srgbClr val="EAF3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919" y="1745407"/>
            <a:ext cx="276515" cy="27651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02152" y="216712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Paciente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02152" y="2468880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84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contacto visual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84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más fría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84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tiempo para explicar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99048" y="1508760"/>
            <a:ext cx="254203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A3D91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00216" y="1691640"/>
            <a:ext cx="384048" cy="384048"/>
          </a:xfrm>
          <a:prstGeom prst="ellipse">
            <a:avLst/>
          </a:prstGeom>
          <a:solidFill>
            <a:srgbClr val="EAF3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3983" y="1745407"/>
            <a:ext cx="276515" cy="27651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0216" y="216712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Clínica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00216" y="2468880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84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Procesos lentos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84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 variable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84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 productividad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02920" y="3611880"/>
            <a:ext cx="2560320" cy="1051560"/>
          </a:xfrm>
          <a:prstGeom prst="roundRect">
            <a:avLst>
              <a:gd name="adj" fmla="val 7826"/>
            </a:avLst>
          </a:prstGeom>
          <a:solidFill>
            <a:srgbClr val="EAF3FF"/>
          </a:solidFill>
          <a:ln w="9525">
            <a:solidFill>
              <a:srgbClr val="CFE4FB"/>
            </a:solidFill>
            <a:prstDash val="solid"/>
          </a:ln>
          <a:effectLst>
            <a:outerShdw sx="100000" sy="100000" kx="0" ky="0" algn="bl" rotWithShape="0" blurRad="101600" dist="25400" dir="5400000">
              <a:srgbClr val="0A3D91">
                <a:alpha val="7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594360" y="37216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49,2%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612648" y="4123944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tiempo del médico se va en EHR y tareas de escritorio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3291840" y="3611880"/>
            <a:ext cx="2560320" cy="1051560"/>
          </a:xfrm>
          <a:prstGeom prst="roundRect">
            <a:avLst>
              <a:gd name="adj" fmla="val 7826"/>
            </a:avLst>
          </a:prstGeom>
          <a:solidFill>
            <a:srgbClr val="EAF3FF"/>
          </a:solidFill>
          <a:ln w="9525">
            <a:solidFill>
              <a:srgbClr val="CFE4FB"/>
            </a:solidFill>
            <a:prstDash val="solid"/>
          </a:ln>
          <a:effectLst>
            <a:outerShdw sx="100000" sy="100000" kx="0" ky="0" algn="bl" rotWithShape="0" blurRad="101600" dist="25400" dir="5400000">
              <a:srgbClr val="0A3D91">
                <a:alpha val="7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3383280" y="37216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h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3401568" y="4123944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adicionales cada noche terminando documentación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6080760" y="3611880"/>
            <a:ext cx="2560320" cy="1051560"/>
          </a:xfrm>
          <a:prstGeom prst="roundRect">
            <a:avLst>
              <a:gd name="adj" fmla="val 7826"/>
            </a:avLst>
          </a:prstGeom>
          <a:solidFill>
            <a:srgbClr val="EAF3FF"/>
          </a:solidFill>
          <a:ln w="9525">
            <a:solidFill>
              <a:srgbClr val="CFE4FB"/>
            </a:solidFill>
            <a:prstDash val="solid"/>
          </a:ln>
          <a:effectLst>
            <a:outerShdw sx="100000" sy="100000" kx="0" ky="0" algn="bl" rotWithShape="0" blurRad="101600" dist="25400" dir="5400000">
              <a:srgbClr val="0A3D91">
                <a:alpha val="7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6172200" y="37216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$2M</a:t>
            </a:r>
            <a:endParaRPr lang="en-US" sz="2200" dirty="0"/>
          </a:p>
        </p:txBody>
      </p:sp>
      <p:sp>
        <p:nvSpPr>
          <p:cNvPr id="27" name="Text 22"/>
          <p:cNvSpPr/>
          <p:nvPr/>
        </p:nvSpPr>
        <p:spPr>
          <a:xfrm>
            <a:off x="6190488" y="4123944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COP/mes del salario de cada médico pagados a tiempo de documentación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AHORA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fuerzas abrieron la ventana. </a:t>
            </a:r>
            <a:pPr indent="0" marL="0">
              <a:buNone/>
            </a:pPr>
            <a:r>
              <a:rPr lang="en-US" sz="24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54203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A3D91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49961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478024" y="1517904"/>
            <a:ext cx="384048" cy="384048"/>
          </a:xfrm>
          <a:prstGeom prst="ellipse">
            <a:avLst/>
          </a:prstGeom>
          <a:solidFill>
            <a:srgbClr val="EAF3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1791" y="1571671"/>
            <a:ext cx="276515" cy="27651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199339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regulación empuja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85800" y="2331720"/>
            <a:ext cx="21762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84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Ley 2015 de 2020 creó la historia clínica electrónica interoperable en Colombia, con plazo máximo de 5 años: digitalizar bien ya no es opcional para las IPS.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300984" y="1371600"/>
            <a:ext cx="254203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A3D91">
                <a:alpha val="7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83864" y="149961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276088" y="1517904"/>
            <a:ext cx="384048" cy="384048"/>
          </a:xfrm>
          <a:prstGeom prst="ellipse">
            <a:avLst/>
          </a:prstGeom>
          <a:solidFill>
            <a:srgbClr val="EAF3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9855" y="1571671"/>
            <a:ext cx="276515" cy="27651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83864" y="199339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tecnología maduró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483864" y="2331720"/>
            <a:ext cx="21762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84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de voz y lenguaje alcanzó calidad clínica en español, y su costo por consulta cae año tras año. Lo que era imposible en 2019 hoy corre en un consultorio.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099048" y="1371600"/>
            <a:ext cx="254203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A3D91">
                <a:alpha val="7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281928" y="149961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8074152" y="1517904"/>
            <a:ext cx="384048" cy="384048"/>
          </a:xfrm>
          <a:prstGeom prst="ellipse">
            <a:avLst/>
          </a:prstGeom>
          <a:solidFill>
            <a:srgbClr val="EAF3F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919" y="1571671"/>
            <a:ext cx="276515" cy="27651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81928" y="199339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agotamiento es récord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281928" y="2331720"/>
            <a:ext cx="21762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84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45,6% del personal médico en Colombia presenta síndrome de burnout. La carga documental es uno de sus motores principales.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502920" y="38404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documentación clínica no va a desaparecer. Pero sí puede dejar de consumir al médico.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502920" y="4343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Fuentes: Ley 2015 de 2020 (funcionpublica.gov.co); prevalencia de burnout en personal médico de Latinoamérica 2013–2023, revisión sistemática (Colombia: 45,6%).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Miracle documenta la consulta </a:t>
            </a:r>
            <a:pPr indent="0" marL="0">
              <a:buNone/>
            </a:pPr>
            <a:r>
              <a:rPr lang="en-US" sz="22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mientras el médico atiende</a:t>
            </a:r>
            <a:pPr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4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Escucha la conversación médico-paciente y la convierte en información clínica estructurada: notas SOAP, resúmenes y planes de tratamiento listos para revisar y aprobar.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44143" y="2011680"/>
            <a:ext cx="512064" cy="512064"/>
          </a:xfrm>
          <a:prstGeom prst="ellipse">
            <a:avLst/>
          </a:prstGeom>
          <a:solidFill>
            <a:srgbClr val="EAF3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5832" y="2083369"/>
            <a:ext cx="368686" cy="3686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651760"/>
            <a:ext cx="17945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Conversación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334006" y="2267712"/>
            <a:ext cx="246888" cy="0"/>
          </a:xfrm>
          <a:prstGeom prst="line">
            <a:avLst/>
          </a:prstGeom>
          <a:noFill/>
          <a:ln w="15875">
            <a:solidFill>
              <a:srgbClr val="E2E2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58693" y="2011680"/>
            <a:ext cx="512064" cy="512064"/>
          </a:xfrm>
          <a:prstGeom prst="ellipse">
            <a:avLst/>
          </a:prstGeom>
          <a:solidFill>
            <a:srgbClr val="EAF3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82" y="2083369"/>
            <a:ext cx="368686" cy="36868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17470" y="2651760"/>
            <a:ext cx="17945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448556" y="2267712"/>
            <a:ext cx="246888" cy="0"/>
          </a:xfrm>
          <a:prstGeom prst="line">
            <a:avLst/>
          </a:prstGeom>
          <a:noFill/>
          <a:ln w="15875">
            <a:solidFill>
              <a:srgbClr val="E2E2E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373243" y="2011680"/>
            <a:ext cx="512064" cy="512064"/>
          </a:xfrm>
          <a:prstGeom prst="ellipse">
            <a:avLst/>
          </a:prstGeom>
          <a:solidFill>
            <a:srgbClr val="EAF3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4932" y="2083369"/>
            <a:ext cx="368686" cy="36868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32020" y="2651760"/>
            <a:ext cx="17945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estructurada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563106" y="2267712"/>
            <a:ext cx="246888" cy="0"/>
          </a:xfrm>
          <a:prstGeom prst="line">
            <a:avLst/>
          </a:prstGeom>
          <a:noFill/>
          <a:ln w="15875">
            <a:solidFill>
              <a:srgbClr val="E2E2E6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487793" y="2011680"/>
            <a:ext cx="512064" cy="512064"/>
          </a:xfrm>
          <a:prstGeom prst="ellipse">
            <a:avLst/>
          </a:prstGeom>
          <a:solidFill>
            <a:srgbClr val="EAF3F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9482" y="2083369"/>
            <a:ext cx="368686" cy="36868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46570" y="2651760"/>
            <a:ext cx="17945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 clínica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02920" y="3246120"/>
            <a:ext cx="39090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A3D91">
                <a:alpha val="7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731520" y="3410712"/>
            <a:ext cx="34518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731520" y="3721608"/>
            <a:ext cx="34518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84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+ escritura manual + revisión + formularios.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732020" y="3246120"/>
            <a:ext cx="3909060" cy="1508760"/>
          </a:xfrm>
          <a:prstGeom prst="roundRect">
            <a:avLst>
              <a:gd name="adj" fmla="val 5455"/>
            </a:avLst>
          </a:prstGeom>
          <a:solidFill>
            <a:srgbClr val="EAF3FF"/>
          </a:solidFill>
          <a:ln w="9525">
            <a:solidFill>
              <a:srgbClr val="CFE4FB"/>
            </a:solidFill>
            <a:prstDash val="solid"/>
          </a:ln>
          <a:effectLst>
            <a:outerShdw sx="100000" sy="100000" kx="0" ky="0" algn="bl" rotWithShape="0" blurRad="101600" dist="25400" dir="5400000">
              <a:srgbClr val="0A3D91">
                <a:alpha val="7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4960620" y="3410712"/>
            <a:ext cx="34518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4960620" y="3721608"/>
            <a:ext cx="34518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natural + IA + documentación estructurada revisable.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FUNCIONA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médico deja de estar </a:t>
            </a:r>
            <a:pPr indent="0" marL="0">
              <a:buNone/>
            </a:pPr>
            <a:r>
              <a:rPr lang="en-US" sz="22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pegado al computador</a:t>
            </a:r>
            <a:pPr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2527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69848" y="1252728"/>
            <a:ext cx="7571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dispositivo con micrófono dedicado en el consultorio captura la conversación con calidad clínica.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8138160" cy="0"/>
          </a:xfrm>
          <a:prstGeom prst="line">
            <a:avLst/>
          </a:prstGeom>
          <a:noFill/>
          <a:ln w="9525">
            <a:solidFill>
              <a:srgbClr val="E2E2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5506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69848" y="1655064"/>
            <a:ext cx="7571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comprende la consulta y la estructura como información clínica: SOAP, resumen, plan.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029968"/>
            <a:ext cx="8138160" cy="0"/>
          </a:xfrm>
          <a:prstGeom prst="line">
            <a:avLst/>
          </a:prstGeom>
          <a:noFill/>
          <a:ln w="9525">
            <a:solidFill>
              <a:srgbClr val="E2E2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574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69848" y="2057400"/>
            <a:ext cx="7571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Miracle opera el computador del médico: navega el sistema de historia clínica y diligencia los campos — sin integraciones.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432304"/>
            <a:ext cx="8138160" cy="0"/>
          </a:xfrm>
          <a:prstGeom prst="line">
            <a:avLst/>
          </a:prstGeom>
          <a:noFill/>
          <a:ln w="9525">
            <a:solidFill>
              <a:srgbClr val="E2E2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45973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69848" y="2459736"/>
            <a:ext cx="7571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médico revisa y aprueba. La decisión clínica siempre es suya.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063240"/>
            <a:ext cx="2784897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A3D91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154680"/>
            <a:ext cx="251057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5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GENERADA · EJEMPLO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640080" y="3392424"/>
            <a:ext cx="25105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 </a:t>
            </a:r>
            <a:pPr indent="0" marL="0">
              <a:buNone/>
            </a:pPr>
            <a:r>
              <a:rPr lang="en-US" sz="780" dirty="0">
                <a:solidFill>
                  <a:srgbClr val="484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Cefalea de 3 días, pulsátil, sin fiebre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640080" y="3685032"/>
            <a:ext cx="25105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 </a:t>
            </a:r>
            <a:pPr indent="0" marL="0">
              <a:buNone/>
            </a:pPr>
            <a:r>
              <a:rPr lang="en-US" sz="780" dirty="0">
                <a:solidFill>
                  <a:srgbClr val="484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 118/76 · FC 72 · afebril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640080" y="3977640"/>
            <a:ext cx="25105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pPr indent="0" marL="0">
              <a:buNone/>
            </a:pPr>
            <a:r>
              <a:rPr lang="en-US" sz="780" dirty="0">
                <a:solidFill>
                  <a:srgbClr val="484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Cefalea tensional. Sin alarma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640080" y="4270248"/>
            <a:ext cx="25105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</a:t>
            </a:r>
            <a:pPr indent="0" marL="0">
              <a:buNone/>
            </a:pPr>
            <a:r>
              <a:rPr lang="en-US" sz="780" dirty="0">
                <a:solidFill>
                  <a:srgbClr val="484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Analgesia, control en 7 días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3488985" y="3063240"/>
            <a:ext cx="2320747" cy="1691640"/>
          </a:xfrm>
          <a:prstGeom prst="roundRect">
            <a:avLst>
              <a:gd name="adj" fmla="val 4865"/>
            </a:avLst>
          </a:prstGeom>
          <a:solidFill>
            <a:srgbClr val="EAF3FF"/>
          </a:solidFill>
          <a:ln w="12700">
            <a:solidFill>
              <a:srgbClr val="0071E3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3580425" y="3063240"/>
            <a:ext cx="2137867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del PMV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pantalla de nota generada ·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10900" y="3063240"/>
            <a:ext cx="2630180" cy="1691640"/>
          </a:xfrm>
          <a:prstGeom prst="roundRect">
            <a:avLst>
              <a:gd name="adj" fmla="val 4865"/>
            </a:avLst>
          </a:prstGeom>
          <a:solidFill>
            <a:srgbClr val="EAF3FF"/>
          </a:solidFill>
          <a:ln w="12700">
            <a:solidFill>
              <a:srgbClr val="0071E3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7088246" y="3319272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4814" y="3385840"/>
            <a:ext cx="342351" cy="342351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102340" y="3931920"/>
            <a:ext cx="24473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demo — Miracle diligenciando la historia clínica en vivo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COMPETENCIA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categoría validada — con un ángulo que </a:t>
            </a:r>
            <a:pPr indent="0" marL="0">
              <a:buNone/>
            </a:pPr>
            <a:r>
              <a:rPr lang="en-US" sz="19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cubre</a:t>
            </a:r>
            <a:pPr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813816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691640"/>
                <a:gridCol w="1143000"/>
                <a:gridCol w="1874520"/>
                <a:gridCol w="201168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71E3"/>
                          </a:solidFill>
                        </a:rPr>
                        <a:t>Miracle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E6E73"/>
                          </a:solidFill>
                        </a:rPr>
                        <a:t>Telepatía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E6E73"/>
                          </a:solidFill>
                        </a:rPr>
                        <a:t>Dragon Copilot (Microsoft)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E6E73"/>
                          </a:solidFill>
                        </a:rPr>
                        <a:t>Scribes globales (Abridge · Nabla · Suki)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E6E73"/>
                          </a:solidFill>
                        </a:rPr>
                        <a:t>Español clínico LatAm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A3D91"/>
                          </a:solidFill>
                        </a:rPr>
                        <a:t>✓ Nativo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8484A"/>
                          </a:solidFill>
                        </a:rPr>
                        <a:t>✓ Sí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8484A"/>
                          </a:solidFill>
                        </a:rPr>
                        <a:t>Notas en inglés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8484A"/>
                          </a:solidFill>
                        </a:rPr>
                        <a:t>Inglés primero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E6E73"/>
                          </a:solidFill>
                        </a:rPr>
                        <a:t>Dispositivo de captura dedicado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A3D91"/>
                          </a:solidFill>
                        </a:rPr>
                        <a:t>✓ Uno por médico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8484A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8484A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8484A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E6E73"/>
                          </a:solidFill>
                        </a:rPr>
                        <a:t>Cómo llega la nota al sistema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A3D91"/>
                          </a:solidFill>
                        </a:rPr>
                        <a:t>✓ Opera el HIS directo, sin integración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8484A"/>
                          </a:solidFill>
                        </a:rPr>
                        <a:t>App / copiloto clínico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8484A"/>
                          </a:solidFill>
                        </a:rPr>
                        <a:t>Integración con EHRs de EE. UU.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8484A"/>
                          </a:solidFill>
                        </a:rPr>
                        <a:t>Integración Epic / EHRs de EE. UU.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E6E73"/>
                          </a:solidFill>
                        </a:rPr>
                        <a:t>Precio pensado para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A3D91"/>
                          </a:solidFill>
                        </a:rPr>
                        <a:t>✓ Clínicas e IPS de LatAm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8484A"/>
                          </a:solidFill>
                        </a:rPr>
                        <a:t>LatAm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8484A"/>
                          </a:solidFill>
                        </a:rPr>
                        <a:t>USD 369/mes + 700 de implementación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8484A"/>
                          </a:solidFill>
                        </a:rPr>
                        <a:t>Contratos enterprise en EE. UU.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E6E73"/>
                          </a:solidFill>
                        </a:rPr>
                        <a:t>Foco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A3D91"/>
                          </a:solidFill>
                        </a:rPr>
                        <a:t>Consultorio, clínicas e IPS de LatAm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8484A"/>
                          </a:solidFill>
                        </a:rPr>
                        <a:t>LatAm (5 países)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8484A"/>
                          </a:solidFill>
                        </a:rPr>
                        <a:t>Hospitales de EE. UU.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8484A"/>
                          </a:solidFill>
                        </a:rPr>
                        <a:t>Sistemas de salud de EE. UU.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3434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Abridge vale USD 5.300M. Telepatía —aquí en Medellín— levantó USD 42M. Nosotros entramos donde ellos no están.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02920" y="473659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 con información pública a julio de 2026 — TechCrunch (Abridge, jun 2025); El Colombiano (Telepatía/a16z, jul 2026); trydax.com y Lime Health (Dragon Copilot).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mercado gigante — y la puerta de entrada está </a:t>
            </a:r>
            <a:pPr indent="0" marL="0">
              <a:buNone/>
            </a:pPr>
            <a:r>
              <a:rPr lang="en-US" sz="20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casa</a:t>
            </a:r>
            <a:pPr indent="0" marL="0"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A3D91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63040"/>
            <a:ext cx="44759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· LATINOAMÉRICA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664208"/>
            <a:ext cx="44759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Salud digital en LatAm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202996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12.800M → 66.400M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978908" y="1463040"/>
            <a:ext cx="34180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Tamaño 2024 y proyección 2033 · CAGR ≈ 20% anual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398118" y="2459736"/>
            <a:ext cx="6347765" cy="960120"/>
          </a:xfrm>
          <a:prstGeom prst="roundRect">
            <a:avLst>
              <a:gd name="adj" fmla="val 8571"/>
            </a:avLst>
          </a:prstGeom>
          <a:solidFill>
            <a:srgbClr val="EAF3FF"/>
          </a:solidFill>
          <a:ln w="9525">
            <a:solidFill>
              <a:srgbClr val="CFE4FB"/>
            </a:solidFill>
            <a:prstDash val="solid"/>
          </a:ln>
          <a:effectLst>
            <a:outerShdw sx="100000" sy="100000" kx="0" ky="0" algn="bl" rotWithShape="0" blurRad="101600" dist="25400" dir="5400000">
              <a:srgbClr val="0A3D91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626718" y="2551176"/>
            <a:ext cx="34912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· COLOMBIA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626718" y="2752344"/>
            <a:ext cx="34912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 clínica asistida por 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626718" y="3118104"/>
            <a:ext cx="58905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137.700+ médicos · 10.839 IPS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89388" y="2551176"/>
            <a:ext cx="266606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Médicos activos (2023) e IPS habilitadas (91% privadas, jun 2025)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293315" y="3547872"/>
            <a:ext cx="4557370" cy="960120"/>
          </a:xfrm>
          <a:prstGeom prst="roundRect">
            <a:avLst>
              <a:gd name="adj" fmla="val 8571"/>
            </a:avLst>
          </a:prstGeom>
          <a:solidFill>
            <a:srgbClr val="D7E9FC"/>
          </a:solidFill>
          <a:ln w="9525">
            <a:solidFill>
              <a:srgbClr val="0071E3"/>
            </a:solidFill>
            <a:prstDash val="solid"/>
          </a:ln>
          <a:effectLst>
            <a:outerShdw sx="100000" sy="100000" kx="0" ky="0" algn="bl" rotWithShape="0" blurRad="101600" dist="25400" dir="5400000">
              <a:srgbClr val="0A3D91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21915" y="3639312"/>
            <a:ext cx="25065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· ANTIOQUIA PRIMERO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21915" y="3840480"/>
            <a:ext cx="250655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Pilotos en Medellín y área metropolitana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21915" y="4206240"/>
            <a:ext cx="41001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940 IPS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799868" y="3639312"/>
            <a:ext cx="1914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Consultorios, clínicas e IPS de alto volumen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02920" y="47274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Fuentes: Market Data Forecast — LatAm Digital Health (USD 12,82 mil M en 2024 → USD 66,4 mil M en 2033, CAGR 20,05%); MinSalud 2023 (137.700+ médicos); REPS jun 2025 vía Consultorsalud/UNIPS (10.839 IPS); datos.gov.co — Prestadores de Salud Antioquia.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NUESTROS CLIENTES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solo producto. </a:t>
            </a:r>
            <a:pPr indent="0" marL="0">
              <a:buNone/>
            </a:pPr>
            <a:r>
              <a:rPr lang="en-US" sz="24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motores</a:t>
            </a:r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crecimiento.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A3D91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64208"/>
            <a:ext cx="411480" cy="411480"/>
          </a:xfrm>
          <a:prstGeom prst="ellipse">
            <a:avLst/>
          </a:prstGeom>
          <a:solidFill>
            <a:srgbClr val="EAF3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127" y="1721815"/>
            <a:ext cx="296266" cy="29626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80160" y="173736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/>
        </p:spPr>
      </p:sp>
      <p:sp>
        <p:nvSpPr>
          <p:cNvPr id="8" name="Text 5"/>
          <p:cNvSpPr/>
          <p:nvPr/>
        </p:nvSpPr>
        <p:spPr>
          <a:xfrm>
            <a:off x="1280160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 · LA PUERTA DE ENTRADA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731520" y="22128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médico adopta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1520" y="254203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84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Médicos y especialistas independientes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84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Consultorios propios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84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Suscripción individual por médico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146304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A3D91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1664208"/>
            <a:ext cx="411480" cy="411480"/>
          </a:xfrm>
          <a:prstGeom prst="ellipse">
            <a:avLst/>
          </a:prstGeom>
          <a:solidFill>
            <a:srgbClr val="EAF3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5367" y="1721815"/>
            <a:ext cx="296266" cy="29626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486400" y="1737360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/>
        </p:spPr>
      </p:sp>
      <p:sp>
        <p:nvSpPr>
          <p:cNvPr id="15" name="Text 11"/>
          <p:cNvSpPr/>
          <p:nvPr/>
        </p:nvSpPr>
        <p:spPr>
          <a:xfrm>
            <a:off x="5486400" y="17373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· EL MOTOR DE EXPANSIÓN</a:t>
            </a:r>
            <a:endParaRPr lang="en-US" sz="650" dirty="0"/>
          </a:p>
        </p:txBody>
      </p:sp>
      <p:sp>
        <p:nvSpPr>
          <p:cNvPr id="16" name="Text 12"/>
          <p:cNvSpPr/>
          <p:nvPr/>
        </p:nvSpPr>
        <p:spPr>
          <a:xfrm>
            <a:off x="4937760" y="22128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institución escala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4937760" y="254203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84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Clínicas, IPS y centros médicos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84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Administración de equipos y visibilidad de la documentación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84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Directores médicos y gerentes aprueban la compra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02920" y="3639312"/>
            <a:ext cx="1748333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02920" y="3639312"/>
            <a:ext cx="17483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Consultorios privados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2397557" y="3639312"/>
            <a:ext cx="220919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397557" y="3639312"/>
            <a:ext cx="22091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Clínicas pequeñas y medianas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4753051" y="3639312"/>
            <a:ext cx="161665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753051" y="3639312"/>
            <a:ext cx="16166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IPS de alto volumen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502920" y="4133088"/>
            <a:ext cx="313090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02920" y="4133088"/>
            <a:ext cx="31309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Especialistas con documentación repetitiva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502920" y="44348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adopción individual abre la puerta. El contrato institucional escala el ingreso.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NEGOCIO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médico y cada clínica generan </a:t>
            </a:r>
            <a:pPr indent="0" marL="0">
              <a:buNone/>
            </a:pPr>
            <a:r>
              <a:rPr lang="en-US" sz="21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 recurrente</a:t>
            </a:r>
            <a:pPr indent="0" marL="0">
              <a:buNone/>
            </a:pPr>
            <a:r>
              <a:rPr lang="en-US" sz="2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52984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A3D91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75232" y="1947672"/>
            <a:ext cx="585216" cy="585216"/>
          </a:xfrm>
          <a:prstGeom prst="ellipse">
            <a:avLst/>
          </a:prstGeom>
          <a:solidFill>
            <a:srgbClr val="EAF3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7162" y="2029602"/>
            <a:ext cx="421356" cy="4213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2648" y="2679192"/>
            <a:ext cx="2310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pago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12648" y="3063240"/>
            <a:ext cx="2310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clínica o consultorio.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07080" y="1691640"/>
            <a:ext cx="252984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A3D91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79392" y="1947672"/>
            <a:ext cx="585216" cy="585216"/>
          </a:xfrm>
          <a:prstGeom prst="ellipse">
            <a:avLst/>
          </a:prstGeom>
          <a:solidFill>
            <a:srgbClr val="EAF3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322" y="2029602"/>
            <a:ext cx="421356" cy="4213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16808" y="2679192"/>
            <a:ext cx="2310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Suscripción mensual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16808" y="3063240"/>
            <a:ext cx="2310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médico.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11240" y="1691640"/>
            <a:ext cx="252984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A3D91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83552" y="1947672"/>
            <a:ext cx="585216" cy="585216"/>
          </a:xfrm>
          <a:prstGeom prst="ellipse">
            <a:avLst/>
          </a:prstGeom>
          <a:solidFill>
            <a:srgbClr val="EAF3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5482" y="2029602"/>
            <a:ext cx="421356" cy="4213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20968" y="2679192"/>
            <a:ext cx="2310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institucional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20968" y="3063240"/>
            <a:ext cx="2310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número de usuarios.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02920" y="39776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Empezamos con pilotos controlados y escalamos hacia contratos institucionales.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DEFENSIBILIDAD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difícil no es transcribir. </a:t>
            </a:r>
            <a:pPr indent="0" marL="0">
              <a:buNone/>
            </a:pPr>
            <a:r>
              <a:rPr lang="en-US" sz="22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todo lo demás.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542032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A3D91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384048" cy="384048"/>
          </a:xfrm>
          <a:prstGeom prst="ellipse">
            <a:avLst/>
          </a:prstGeom>
          <a:solidFill>
            <a:srgbClr val="EAF3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567" y="1562527"/>
            <a:ext cx="276515" cy="2765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984248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que mejoran el producto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85800" y="2496312"/>
            <a:ext cx="217627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84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consulta documentada afina el español clínico regional del sistema. Más médicos → mejor producto → más médicos.</a:t>
            </a:r>
            <a:endParaRPr lang="en-US" sz="880" dirty="0"/>
          </a:p>
        </p:txBody>
      </p:sp>
      <p:sp>
        <p:nvSpPr>
          <p:cNvPr id="9" name="Shape 6"/>
          <p:cNvSpPr/>
          <p:nvPr/>
        </p:nvSpPr>
        <p:spPr>
          <a:xfrm>
            <a:off x="3300984" y="1325880"/>
            <a:ext cx="2542032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A3D91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83864" y="1508760"/>
            <a:ext cx="384048" cy="384048"/>
          </a:xfrm>
          <a:prstGeom prst="ellipse">
            <a:avLst/>
          </a:prstGeom>
          <a:solidFill>
            <a:srgbClr val="EAF3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7631" y="1562527"/>
            <a:ext cx="276515" cy="27651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83864" y="1984248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fricción de integración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483864" y="2496312"/>
            <a:ext cx="217627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84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Miracle opera el HIS que la clínica ya usa. Donde otros necesitan meses de integración, nosotros entramos el mismo día.</a:t>
            </a:r>
            <a:endParaRPr lang="en-US" sz="880" dirty="0"/>
          </a:p>
        </p:txBody>
      </p:sp>
      <p:sp>
        <p:nvSpPr>
          <p:cNvPr id="14" name="Shape 10"/>
          <p:cNvSpPr/>
          <p:nvPr/>
        </p:nvSpPr>
        <p:spPr>
          <a:xfrm>
            <a:off x="6099048" y="1325880"/>
            <a:ext cx="2542032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A3D91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81928" y="1508760"/>
            <a:ext cx="384048" cy="384048"/>
          </a:xfrm>
          <a:prstGeom prst="ellipse">
            <a:avLst/>
          </a:prstGeom>
          <a:solidFill>
            <a:srgbClr val="EAF3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5695" y="1562527"/>
            <a:ext cx="276515" cy="27651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81928" y="1984248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Presencia física en el consultorio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6281928" y="2496312"/>
            <a:ext cx="217627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84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dispositivo dedicado garantiza calidad de audio clínico y crea un hábito diario: un costo de cambio real frente a cualquier app.</a:t>
            </a:r>
            <a:endParaRPr lang="en-US" sz="880" dirty="0"/>
          </a:p>
        </p:txBody>
      </p:sp>
      <p:sp>
        <p:nvSpPr>
          <p:cNvPr id="19" name="Shape 14"/>
          <p:cNvSpPr/>
          <p:nvPr/>
        </p:nvSpPr>
        <p:spPr>
          <a:xfrm>
            <a:off x="502920" y="3749040"/>
            <a:ext cx="8138160" cy="685800"/>
          </a:xfrm>
          <a:prstGeom prst="roundRect">
            <a:avLst>
              <a:gd name="adj" fmla="val 12000"/>
            </a:avLst>
          </a:prstGeom>
          <a:solidFill>
            <a:srgbClr val="EAF3FF"/>
          </a:solidFill>
          <a:ln w="9525">
            <a:solidFill>
              <a:srgbClr val="CFE4FB"/>
            </a:solidFill>
            <a:prstDash val="solid"/>
          </a:ln>
          <a:effectLst>
            <a:outerShdw sx="100000" sy="100000" kx="0" ky="0" algn="bl" rotWithShape="0" blurRad="101600" dist="25400" dir="5400000">
              <a:srgbClr val="0A3D91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04088" y="388620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95" y="3943807"/>
            <a:ext cx="296266" cy="29626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374904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y protección de datos cubiertas desde el diseño, alineadas con la regulación colombiana para datos sensibles en salud.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equipo para construir, vender y validar en salud.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9319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A3D91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664208"/>
            <a:ext cx="502920" cy="502920"/>
          </a:xfrm>
          <a:prstGeom prst="ellipse">
            <a:avLst/>
          </a:prstGeom>
          <a:solidFill>
            <a:srgbClr val="EAF3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497" y="1734617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0934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DE SOFTWARE Y ARQUITECTURA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325880" y="20299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[Nombre]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25880" y="23225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[Rol]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09160" y="1463040"/>
            <a:ext cx="39319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A3D91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10328" y="1664208"/>
            <a:ext cx="502920" cy="502920"/>
          </a:xfrm>
          <a:prstGeom prst="ellipse">
            <a:avLst/>
          </a:prstGeom>
          <a:solidFill>
            <a:srgbClr val="EAF3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0737" y="1734617"/>
            <a:ext cx="362102" cy="3621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160934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IA, AUTOMATIZACIÓN Y PRODUCTO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5532120" y="20299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[Nombre]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532120" y="23225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[Rol]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02920" y="2971800"/>
            <a:ext cx="39319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A3D91">
                <a:alpha val="7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04088" y="3172968"/>
            <a:ext cx="502920" cy="502920"/>
          </a:xfrm>
          <a:prstGeom prst="ellipse">
            <a:avLst/>
          </a:prstGeom>
          <a:solidFill>
            <a:srgbClr val="EAF3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97" y="3243377"/>
            <a:ext cx="362102" cy="3621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25880" y="31181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 COMERCIAL, VENTAS Y VALIDACIÓN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1325880" y="3538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[Nombre]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325880" y="38313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[Rol]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709160" y="2971800"/>
            <a:ext cx="39319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A3D91">
                <a:alpha val="7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910328" y="3172968"/>
            <a:ext cx="502920" cy="502920"/>
          </a:xfrm>
          <a:prstGeom prst="ellipse">
            <a:avLst/>
          </a:prstGeom>
          <a:solidFill>
            <a:srgbClr val="EAF3F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0737" y="3243377"/>
            <a:ext cx="362102" cy="36210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32120" y="31181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LEGAL, CONTACTOS Y SECTOR SALUD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5532120" y="3538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[Nombre]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532120" y="38313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[Rol]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02920" y="42976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Tenemos la capacidad para construir, validar y vender la solución.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DEL INCENTIVO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$15M pasaremos de PMV funcional a piloto validado.</a:t>
            </a:r>
            <a:endParaRPr lang="en-US" sz="2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8138160" cy="914400"/>
        </p:xfrm>
        <a:graphic>
          <a:graphicData uri="http://schemas.openxmlformats.org/drawingml/2006/table">
            <a:tbl>
              <a:tblPr/>
              <a:tblGrid>
                <a:gridCol w="3418027"/>
                <a:gridCol w="1464869"/>
                <a:gridCol w="3255264"/>
              </a:tblGrid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6E6E73"/>
                          </a:solidFill>
                        </a:rPr>
                        <a:t>Inversión</a:t>
                      </a:r>
                      <a:endParaRPr lang="en-US" sz="8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6E6E73"/>
                          </a:solidFill>
                        </a:rPr>
                        <a:t>Monto aprobado</a:t>
                      </a:r>
                      <a:endParaRPr lang="en-US" sz="8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6E6E73"/>
                          </a:solidFill>
                        </a:rPr>
                        <a:t>Objetivo</a:t>
                      </a:r>
                      <a:endParaRPr lang="en-US" sz="8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1D1F"/>
                          </a:solidFill>
                        </a:rPr>
                        <a:t>Asesoría técnica DevOps, escalabilidad y despliegue cloud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71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8484A"/>
                          </a:solidFill>
                        </a:rPr>
                        <a:t>Estabilidad y disponibilidad del PMV para pruebas reales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1D1F"/>
                          </a:solidFill>
                        </a:rPr>
                        <a:t>Licencia mensual de herramienta de IA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71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8484A"/>
                          </a:solidFill>
                        </a:rPr>
                        <a:t>Acelerar documentación técnica y pruebas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1D1F"/>
                          </a:solidFill>
                        </a:rPr>
                        <a:t>Créditos de API de IA para pruebas del PMV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71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8484A"/>
                          </a:solidFill>
                        </a:rPr>
                        <a:t>Validar precisión del flujo voz → IA → nota clínica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1D1F"/>
                          </a:solidFill>
                        </a:rPr>
                        <a:t>14 dispositivos de captura de audio (tipo Omi)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71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8484A"/>
                          </a:solidFill>
                        </a:rPr>
                        <a:t>Validar calidad de voz en escenarios reales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1D1F"/>
                          </a:solidFill>
                        </a:rPr>
                        <a:t>Marketing, branding y producción audiovisual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71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8484A"/>
                          </a:solidFill>
                        </a:rPr>
                        <a:t>Video demo y piezas para validar con médicos y clínicas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1D1F"/>
                          </a:solidFill>
                        </a:rPr>
                        <a:t>Registro y protección de la marca Miracle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71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8484A"/>
                          </a:solidFill>
                        </a:rPr>
                        <a:t>Proteger el nombre y los activos intangibles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1D1F"/>
                          </a:solidFill>
                        </a:rPr>
                        <a:t>Total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3D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$15.000.000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37083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incentivo no es para iniciar desde cero; es para acelerar una solución que ya está en desarrollo.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2920" y="47365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Cifras del Plan de Inversión aprobado — Contrato interadministrativo #4600107420 de 2026.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411480"/>
            <a:ext cx="822960" cy="822960"/>
          </a:xfrm>
          <a:prstGeom prst="ellipse">
            <a:avLst/>
          </a:prstGeom>
          <a:solidFill>
            <a:srgbClr val="EAF3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5734" y="526694"/>
            <a:ext cx="592531" cy="59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MIRACLE · CAPITAL SEMILLA 2026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57200" y="1691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Queremos ser la </a:t>
            </a:r>
            <a:pPr algn="ctr" indent="0" marL="0">
              <a:buNone/>
            </a:pPr>
            <a:r>
              <a:rPr lang="en-US" sz="21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 de IA</a:t>
            </a:r>
            <a:pPr algn="ctr" indent="0" marL="0">
              <a:buNone/>
            </a:pPr>
            <a:r>
              <a:rPr lang="en-US" sz="2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la documentación clínica en Latinoamérica.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914400" y="26974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84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Empezando por Medellín: con Capital Semilla, Miracle avanza de un PMV funcional a un piloto validado con médicos reales del sector salud.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35204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tiempo documentando.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tiempo cuidando pacientes.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Miracle — Capital Semilla 2026</dc:title>
  <dc:subject>PptxGenJS Presentation</dc:subject>
  <dc:creator>Miracle</dc:creator>
  <cp:lastModifiedBy>Miracle</cp:lastModifiedBy>
  <cp:revision>1</cp:revision>
  <dcterms:created xsi:type="dcterms:W3CDTF">2026-07-11T17:11:43Z</dcterms:created>
  <dcterms:modified xsi:type="dcterms:W3CDTF">2026-07-11T17:11:43Z</dcterms:modified>
</cp:coreProperties>
</file>