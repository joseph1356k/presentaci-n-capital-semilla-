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SEMILLA 2026 · RUTA DEL EMPRENDIMIENTO MEDELLÍN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208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está perdiendo tiempo clínico frente al computador.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2240280"/>
            <a:ext cx="52084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cada 1 hora con pacientes, casi 2 horas pueden irse en registros y tareas de escritorio.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2971800"/>
            <a:ext cx="52084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Sinsky et al., Annals of Internal Medicine, 2016 — médicos en consulta ambulatoria dedicaron 27,0% de su tiempo al contacto clínico directo y 49,2% a EHR/tareas de escritorio, con 1–2 horas adicionales cada noche en documentación.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036869" y="731520"/>
            <a:ext cx="2604211" cy="1783080"/>
          </a:xfrm>
          <a:prstGeom prst="roundRect">
            <a:avLst>
              <a:gd name="adj" fmla="val 461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6366" y="896112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8297" y="978042"/>
            <a:ext cx="421356" cy="4213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74029" y="157276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74029" y="1773936"/>
            <a:ext cx="23298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tras consulta, con el paciente al frente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036869" y="2697480"/>
            <a:ext cx="2604211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46366" y="28620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297" y="2944002"/>
            <a:ext cx="421356" cy="4213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174029" y="353872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Noche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174029" y="3739896"/>
            <a:ext cx="23298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médico, a las 10 p.m., todavía llenando historias clínicas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solo el médico. El costo lo paga todo el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855" y="174540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4088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carga administrativa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clínico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agotamiento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00984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919" y="174540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02152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02152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contacto visual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más fría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para explicar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99048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0216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983" y="174540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0216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Procesos lentos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variable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productividad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59436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61264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tiempo del médico se va en EHR y tareas de escritorio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329184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338328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h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340156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adicionales cada noche terminando documentación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608076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617220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$2M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619048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COP/mes del salario de cada médico pagados a tiempo de documentación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AHORA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fuerzas abrieron la ventana.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478024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91" y="1571671"/>
            <a:ext cx="276515" cy="2765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empuja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2015 de 2020 creó la historia clínica electrónica interoperable en Colombia, con plazo máximo de 5 años: digitalizar bien ya no es opcional para las IPS.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00984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483864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276088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9855" y="1571671"/>
            <a:ext cx="276515" cy="2765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83864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tecnología maduró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83864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de voz y lenguaje alcanzó calidad clínica en español, y su costo por consulta cae año tras año. Lo que era imposible en 2019 hoy corre en un consultorio.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99048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6281928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8074152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919" y="1571671"/>
            <a:ext cx="276515" cy="27651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81928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agotamiento es récord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281928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45,6% del personal médico en Colombia presenta síndrome de burnout. La carga documental es uno de sus motores principales.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38404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documentación clínica no va a desaparecer. Pero sí puede dejar de consumir al médico.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Ley 2015 de 2020 (funcionpublica.gov.co); prevalencia de burnout en personal médico de Latinoamérica 2013–2023, revisión sistemática (Colombia: 45,6%).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documenta la consulta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el médico atiende</a:t>
            </a:r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Escucha la conversación médico-paciente y la convierte en información clínica estructurada: notas SOAP, resúmenes y planes de tratamiento listos para revisar y aprobar.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441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832" y="20833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Conversación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3340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586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382" y="2083369"/>
            <a:ext cx="368686" cy="36868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74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44855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3732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932" y="2083369"/>
            <a:ext cx="368686" cy="3686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320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estructurada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5631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877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482" y="2083369"/>
            <a:ext cx="368686" cy="36868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465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clínica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029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315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7315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+ escritura manual + revisión + formularios.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7320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49606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606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natural + IA + documentación estructurada revisable.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deja de estar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pegado al computador</a:t>
            </a:r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252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69848" y="1252728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dispositivo con micrófono dedicado en el consultorio captura la conversación con calidad clínica.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55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69848" y="1655064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comprende la consulta y la estructura como información clínica: SOAP, resumen, plan.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5740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69848" y="2057400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opera el computador del médico: navega el sistema de historia clínica y diligencia los campos — sin integraciones.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432304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97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69848" y="2459736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revisa y aprueba. La decisión clínica siempre es suya.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3063240"/>
            <a:ext cx="2784897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154680"/>
            <a:ext cx="25105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GENERADA · EJEMPLO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" y="3392424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Cefalea de 3 días, pulsátil, sin fiebre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640080" y="3685032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118/76 · FC 72 · afebril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640080" y="3977640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Cefalea tensional. Sin alarma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640080" y="4270248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Analgesia, control en 7 días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3488985" y="3063240"/>
            <a:ext cx="2320747" cy="1691640"/>
          </a:xfrm>
          <a:prstGeom prst="roundRect">
            <a:avLst>
              <a:gd name="adj" fmla="val 4865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580425" y="3063240"/>
            <a:ext cx="2137867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del PMV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pantalla de nota generada ·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10900" y="3063240"/>
            <a:ext cx="2630180" cy="1691640"/>
          </a:xfrm>
          <a:prstGeom prst="roundRect">
            <a:avLst>
              <a:gd name="adj" fmla="val 4865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088246" y="3319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4814" y="3385840"/>
            <a:ext cx="342351" cy="34235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102340" y="3931920"/>
            <a:ext cx="2447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demo — Miracle diligenciando la historia clínica en vivo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categoría validada — con un ángulo que </a:t>
            </a:r>
            <a:pPr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cubre</a:t>
            </a:r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81381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91640"/>
                <a:gridCol w="1143000"/>
                <a:gridCol w="1874520"/>
                <a:gridCol w="20116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71E3"/>
                          </a:solidFill>
                        </a:rPr>
                        <a:t>Miracle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Telepatía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Dragon Copilot (Microsoft)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Scribes globales (Abridge · Nabla · Suki)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Español clínico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Nativo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✓ Sí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Notas en inglés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Inglés primero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Dispositivo de captura dedicado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Uno por médico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Cómo llega la nota al sistema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Opera el HIS directo, sin integración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App / copiloto clínico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con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Epic /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Precio pensado para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USD 369/mes + 700 de implementación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Contratos enterprise en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Foco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Consultorio,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 (5 países)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Hospitales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Sistemas de salud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Abridge vale USD 5.300M. Telepatía —aquí en Medellín— levantó USD 42M. Nosotros entramos donde ellos no están.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 con información pública a julio de 2026 — TechCrunch (Abridge, jun 2025); El Colombiano (Telepatía/a16z, jul 2026); trydax.com y Lime Health (Dragon Copilot).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mercado gigante — y la puerta de entrada está </a:t>
            </a:r>
            <a:pPr indent="0" marL="0">
              <a:buNone/>
            </a:pPr>
            <a:r>
              <a:rPr lang="en-US" sz="2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casa</a:t>
            </a:r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63040"/>
            <a:ext cx="44759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LATINOAMÉRICA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664208"/>
            <a:ext cx="44759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digital en LatAm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202996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12.800M → 66.400M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978908" y="1463040"/>
            <a:ext cx="34180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Tamaño 2024 y proyección 2033 · CAGR ≈ 20% anual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398118" y="2459736"/>
            <a:ext cx="6347765" cy="960120"/>
          </a:xfrm>
          <a:prstGeom prst="roundRect">
            <a:avLst>
              <a:gd name="adj" fmla="val 8571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626718" y="2551176"/>
            <a:ext cx="34912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COLOMBIA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626718" y="2752344"/>
            <a:ext cx="34912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clínica asistida por IA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26718" y="3118104"/>
            <a:ext cx="58905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137.700+ médicos · 10.839 IPS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89388" y="2551176"/>
            <a:ext cx="266606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activos (2023) e IPS habilitadas (91% privadas, jun 2025)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93315" y="3547872"/>
            <a:ext cx="4557370" cy="960120"/>
          </a:xfrm>
          <a:prstGeom prst="roundRect">
            <a:avLst>
              <a:gd name="adj" fmla="val 8571"/>
            </a:avLst>
          </a:prstGeom>
          <a:solidFill>
            <a:srgbClr val="D7E9FC"/>
          </a:solidFill>
          <a:ln w="9525">
            <a:solidFill>
              <a:srgbClr val="0071E3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521915" y="3639312"/>
            <a:ext cx="25065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ANTIOQUIA PRIMERO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21915" y="3840480"/>
            <a:ext cx="25065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Pilotos en Medellín y área metropolitana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521915" y="4206240"/>
            <a:ext cx="41001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940 IPS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99868" y="3639312"/>
            <a:ext cx="191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Consultorios, clínicas e IPS de alto volumen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2920" y="4727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Market Data Forecast — LatAm Digital Health (USD 12,82 mil M en 2024 → USD 66,4 mil M en 2033, CAGR 20,05%); MinSalud 2023 (137.700+ médicos); REPS jun 2025 vía Consultorsalud/UNIPS (10.839 IPS); datos.gov.co — Prestadores de Salud Antioquia.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CLIENTES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producto.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motores</a:t>
            </a:r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crecimiento.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1721815"/>
            <a:ext cx="296266" cy="2962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0160" y="17373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8" name="Text 5"/>
          <p:cNvSpPr/>
          <p:nvPr/>
        </p:nvSpPr>
        <p:spPr>
          <a:xfrm>
            <a:off x="128016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· LA PUERTA DE ENTRADA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73152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adopta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y especialistas independientes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propios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individual por médico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3776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367" y="1721815"/>
            <a:ext cx="296266" cy="29626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0" y="1737360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· EL MOTOR DE EXPANSIÓN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493776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institución escala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93776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Clínicas, IPS y centros médicos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Administración de equipos y visibilidad de la documentación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Directores médicos y gerentes aprueban la compra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3639312"/>
            <a:ext cx="1748333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3639312"/>
            <a:ext cx="17483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privados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2397557" y="3639312"/>
            <a:ext cx="220919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397557" y="3639312"/>
            <a:ext cx="2209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pequeñas y medianas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753051" y="3639312"/>
            <a:ext cx="161665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53051" y="3639312"/>
            <a:ext cx="1616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IPS de alto volumen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133088"/>
            <a:ext cx="313090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02920" y="4133088"/>
            <a:ext cx="3130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Especialistas con documentación repetitiva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adopción individual abre la puerta. El contrato institucional escala el ingreso.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médico y cada clínica generan </a:t>
            </a:r>
            <a:pPr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recurrente</a:t>
            </a:r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7523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62" y="2029602"/>
            <a:ext cx="421356" cy="421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pago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clínica o consultorio.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0708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7939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322" y="2029602"/>
            <a:ext cx="421356" cy="4213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1680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mensual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1680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médico.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1124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8355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482" y="2029602"/>
            <a:ext cx="421356" cy="4213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2096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institucional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2096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número de usuarios.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con pilotos controlados y escalamos hacia contratos institucionales.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DEFENSIBILIDAD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difícil no es transcribir.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todo lo demás.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567" y="156252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que mejoran el producto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85800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consulta documentada afina el español clínico regional del sistema. Más médicos → mejor producto → más médicos.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3300984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83864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31" y="156252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83864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fricción de integración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3483864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opera el HIS que la clínica ya usa. Donde otros necesitan meses de integración, nosotros entramos el mismo día.</a:t>
            </a:r>
            <a:endParaRPr lang="en-US" sz="880" dirty="0"/>
          </a:p>
        </p:txBody>
      </p:sp>
      <p:sp>
        <p:nvSpPr>
          <p:cNvPr id="14" name="Shape 10"/>
          <p:cNvSpPr/>
          <p:nvPr/>
        </p:nvSpPr>
        <p:spPr>
          <a:xfrm>
            <a:off x="6099048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81928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695" y="156252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1928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física en el consultorio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281928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dispositivo dedicado garantiza calidad de audio clínico y crea un hábito diario: un costo de cambio real frente a cualquier app.</a:t>
            </a:r>
            <a:endParaRPr lang="en-US" sz="880" dirty="0"/>
          </a:p>
        </p:txBody>
      </p:sp>
      <p:sp>
        <p:nvSpPr>
          <p:cNvPr id="19" name="Shape 14"/>
          <p:cNvSpPr/>
          <p:nvPr/>
        </p:nvSpPr>
        <p:spPr>
          <a:xfrm>
            <a:off x="502920" y="3749040"/>
            <a:ext cx="8138160" cy="6858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04088" y="3886200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" y="3943807"/>
            <a:ext cx="296266" cy="2962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749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protección de datos cubiertas desde el diseño, alineadas con la regulación colombiana para datos sensibles en salud.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para construir, vender y validar en salud.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7" y="1734617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DE SOFTWARE Y ARQUITECTURA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32588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David Jaramillo Cortés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2588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1032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737" y="1734617"/>
            <a:ext cx="362102" cy="362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IA, AUTOMATIZACIÓN Y PRODUCTO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553212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Christian Felipe Maldonado Ortiz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53212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7" y="3243377"/>
            <a:ext cx="362102" cy="3621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COMERCIAL, VENTAS Y VALIDACIÓN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32588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Pablo Arteaga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32588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CCO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91032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737" y="3243377"/>
            <a:ext cx="362102" cy="36210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3212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CONTACTOS Y SECTOR SALUD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553212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Isabel Sofía García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53212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Tenemos la capacidad para construir, validar y vender la solución.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DEL INCENTIVO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$15M pasaremos de PMV funcional a piloto validado.</a:t>
            </a:r>
            <a:endParaRPr lang="en-US" sz="2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914400"/>
        </p:xfrm>
        <a:graphic>
          <a:graphicData uri="http://schemas.openxmlformats.org/drawingml/2006/table">
            <a:tbl>
              <a:tblPr/>
              <a:tblGrid>
                <a:gridCol w="3418027"/>
                <a:gridCol w="1464869"/>
                <a:gridCol w="3255264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Inversión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Monto aprobado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Objetivo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Asesoría técnica DevOps, escalabilidad y despliegue cloud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Estabilidad y disponibilidad del PMV para pruebas reales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Licencia mensual de herramienta de IA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Acelerar documentación técnica y pruebas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Créditos de API de IA para pruebas del PMV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Validar precisión del flujo voz → IA → nota clínica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14 dispositivos de captura de audio (tipo Omi)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Validar calidad de voz en escenarios reales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Marketing, branding y producción audiovisual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Video demo y piezas para validar con médicos y clínicas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Registro y protección de la marca Miracle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Proteger el nombre y los activos intangibles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3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$15.000.000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708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incentivo no es para iniciar desde cero; es para acelerar una solución que ya está en desarrollo.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Cifras del Plan de Inversión aprobado — Contrato interadministrativo #4600107420 de 2026.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411480"/>
            <a:ext cx="822960" cy="82296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5734" y="526694"/>
            <a:ext cx="592531" cy="5925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· CAPITAL SEMILLA 2026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ser la </a:t>
            </a:r>
            <a:pPr algn="ctr"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de IA</a:t>
            </a:r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 la documentación clínica en Latinoamérica.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914400" y="26974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Empezando por Medellín: con Capital Semilla, Miracle avanza de un PMV funcional a un piloto validado con médicos reales del sector salud.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documentando.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tiempo cuidando pacientes.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Miracle — Capital Semilla 2026</dc:title>
  <dc:subject>PptxGenJS Presentation</dc:subject>
  <dc:creator>Miracle</dc:creator>
  <cp:lastModifiedBy>Miracle</cp:lastModifiedBy>
  <cp:revision>1</cp:revision>
  <dcterms:created xsi:type="dcterms:W3CDTF">2026-07-11T17:15:26Z</dcterms:created>
  <dcterms:modified xsi:type="dcterms:W3CDTF">2026-07-11T17:15:26Z</dcterms:modified>
</cp:coreProperties>
</file>