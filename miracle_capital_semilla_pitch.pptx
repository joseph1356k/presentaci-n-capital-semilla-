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SEMILLA 2026 · RUTA DEL EMPRENDIMIENTO MEDELLÍN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520842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está perdiendo tiempo clínico frente al computador.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2331720"/>
            <a:ext cx="520842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cada 1 hora con pacientes, casi 2 horas pueden irse en registros y tareas de escritorio.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02920" y="3108960"/>
            <a:ext cx="52084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Sinsky et al., Annals of Internal Medicine, 2016 — médicos en consulta ambulatoria dedicaron 27,0% de su tiempo al contacto clínico directo y 49,2% a EHR/tareas de escritorio, con 1–2 horas adicionales cada noche en documentación.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036869" y="777240"/>
            <a:ext cx="2604211" cy="1691640"/>
          </a:xfrm>
          <a:prstGeom prst="roundRect">
            <a:avLst>
              <a:gd name="adj" fmla="val 4865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018934" y="9601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8546" y="1049731"/>
            <a:ext cx="460858" cy="46085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036869" y="1691640"/>
            <a:ext cx="2604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036869" y="1920240"/>
            <a:ext cx="260421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paciente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036869" y="2651760"/>
            <a:ext cx="2604211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018934" y="2834640"/>
            <a:ext cx="640080" cy="64008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8546" y="2924251"/>
            <a:ext cx="460858" cy="46085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036869" y="3566160"/>
            <a:ext cx="2604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Noche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036869" y="3794760"/>
            <a:ext cx="260421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sistema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no es solo del médico. También lo siente el paciente.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2529840" cy="2880360"/>
          </a:xfrm>
          <a:prstGeom prst="roundRect">
            <a:avLst>
              <a:gd name="adj" fmla="val 3253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039112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9361" y="2109521"/>
            <a:ext cx="362102" cy="3621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8952" y="2697480"/>
            <a:ext cx="2017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58952" y="3063240"/>
            <a:ext cx="20177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carga administrativa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clínico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 agotamiento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307080" y="1783080"/>
            <a:ext cx="2529840" cy="2880360"/>
          </a:xfrm>
          <a:prstGeom prst="roundRect">
            <a:avLst>
              <a:gd name="adj" fmla="val 3253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63112" y="2039112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521" y="2109521"/>
            <a:ext cx="362102" cy="3621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3112" y="2697480"/>
            <a:ext cx="2017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563112" y="3063240"/>
            <a:ext cx="20177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contacto visual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más fría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para explicar y escuchar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111240" y="1783080"/>
            <a:ext cx="2529840" cy="2880360"/>
          </a:xfrm>
          <a:prstGeom prst="roundRect">
            <a:avLst>
              <a:gd name="adj" fmla="val 3253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67272" y="2039112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681" y="2109521"/>
            <a:ext cx="362102" cy="3621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67272" y="2697480"/>
            <a:ext cx="2017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367272" y="3063240"/>
            <a:ext cx="20177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Procesos lentos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variable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productividad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OPORTUNIDAD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documentación clínica no va a desaparecer. Pero sí puede volverse más inteligente.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reducimos el tiempo repetitivo de documentación, liberamos tiempo para la atención médica y mejoramos la productividad institucional.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2651760"/>
            <a:ext cx="388620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8803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3246120"/>
            <a:ext cx="3337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+ escritura manual + revisión + formularios.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2651760"/>
            <a:ext cx="3886200" cy="1965960"/>
          </a:xfrm>
          <a:prstGeom prst="roundRect">
            <a:avLst>
              <a:gd name="adj" fmla="val 4186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0" y="28803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3246120"/>
            <a:ext cx="3337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natural + IA + documentación estructurada revisable.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SOLUCIÓN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Miracle: IA para documentar consultas médicas desde la voz.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escucha la conversación médico-paciente y ayuda a convertirla en información clínica organizada, lista para ser revisada y utilizada por el médico.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107567" y="2788920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9497" y="2870850"/>
            <a:ext cx="421356" cy="4213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3538728"/>
            <a:ext cx="17945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Conversación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324862" y="3081528"/>
            <a:ext cx="265176" cy="0"/>
          </a:xfrm>
          <a:prstGeom prst="line">
            <a:avLst/>
          </a:prstGeom>
          <a:noFill/>
          <a:ln w="15875">
            <a:solidFill>
              <a:srgbClr val="E2E2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22117" y="2788920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47" y="2870850"/>
            <a:ext cx="421356" cy="4213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17470" y="3538728"/>
            <a:ext cx="17945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439412" y="3081528"/>
            <a:ext cx="265176" cy="0"/>
          </a:xfrm>
          <a:prstGeom prst="line">
            <a:avLst/>
          </a:prstGeom>
          <a:noFill/>
          <a:ln w="15875">
            <a:solidFill>
              <a:srgbClr val="E2E2E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336667" y="2788920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8597" y="2870850"/>
            <a:ext cx="421356" cy="4213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32020" y="3538728"/>
            <a:ext cx="17945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clínico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553962" y="3081528"/>
            <a:ext cx="265176" cy="0"/>
          </a:xfrm>
          <a:prstGeom prst="line">
            <a:avLst/>
          </a:prstGeom>
          <a:noFill/>
          <a:ln w="15875">
            <a:solidFill>
              <a:srgbClr val="E2E2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451217" y="2788920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147" y="2870850"/>
            <a:ext cx="421356" cy="4213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46570" y="3538728"/>
            <a:ext cx="17945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FUNCIONA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diálogo clínico a información estructurada.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88720" y="1508760"/>
            <a:ext cx="7452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conversa normalmente con el paciente.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865376"/>
            <a:ext cx="813816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901952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88720" y="1929384"/>
            <a:ext cx="7452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captura la voz.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813816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322576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350008"/>
            <a:ext cx="7452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identifica datos clínicos relevantes.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706624"/>
            <a:ext cx="813816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74320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770632"/>
            <a:ext cx="7452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 la información en formato útil.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3127248"/>
            <a:ext cx="813816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16382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188720" y="3191256"/>
            <a:ext cx="7452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revisa, edita y aprueba.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794760"/>
            <a:ext cx="813816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9776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siempre mantiene el control.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somos un transcriptor. Somos documentación clínica inteligente.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8138160" cy="914400"/>
        </p:xfrm>
        <a:graphic>
          <a:graphicData uri="http://schemas.openxmlformats.org/drawingml/2006/table">
            <a:tbl>
              <a:tblPr/>
              <a:tblGrid>
                <a:gridCol w="3662172"/>
                <a:gridCol w="447598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E6E73"/>
                          </a:solidFill>
                        </a:rPr>
                        <a:t>Transcriptor común</a:t>
                      </a:r>
                      <a:endParaRPr lang="en-US" sz="105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E6E73"/>
                          </a:solidFill>
                        </a:rPr>
                        <a:t>Miracle</a:t>
                      </a:r>
                      <a:endParaRPr lang="en-US" sz="105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</a:rPr>
                        <a:t>Convierte voz en texto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3D91"/>
                          </a:solidFill>
                        </a:rPr>
                        <a:t>Convierte consulta en información estructurada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</a:rPr>
                        <a:t>Texto plano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3D91"/>
                          </a:solidFill>
                        </a:rPr>
                        <a:t>Datos clínicos organizados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</a:rPr>
                        <a:t>Requiere edición manual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3D91"/>
                          </a:solidFill>
                        </a:rPr>
                        <a:t>Reduce trabajo repetitivo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</a:rPr>
                        <a:t>Genérico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3D91"/>
                          </a:solidFill>
                        </a:rPr>
                        <a:t>Diseñado para flujo médico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</a:rPr>
                        <a:t>Se queda en la nota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3D91"/>
                          </a:solidFill>
                        </a:rPr>
                        <a:t>Puede apoyar campos y documentación clínica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Mientras otros convierten voz en texto, Miracle convierte una consulta en información clínica accionable.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MÍNIMO VIABLE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tenemos un PMV funcional en desarrollo.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PMV ya demuestra el flujo principal: captura de voz, procesamiento con IA y organización de información clínica.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059046" cy="2743200"/>
          </a:xfrm>
          <a:prstGeom prst="roundRect">
            <a:avLst>
              <a:gd name="adj" fmla="val 3997"/>
            </a:avLst>
          </a:prstGeom>
          <a:solidFill>
            <a:srgbClr val="EAF3FF"/>
          </a:solidFill>
          <a:ln w="12700">
            <a:solidFill>
              <a:srgbClr val="0071E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02920" y="1965960"/>
            <a:ext cx="205904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prototipo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17998" y="1965960"/>
            <a:ext cx="2059046" cy="2743200"/>
          </a:xfrm>
          <a:prstGeom prst="roundRect">
            <a:avLst>
              <a:gd name="adj" fmla="val 3997"/>
            </a:avLst>
          </a:prstGeom>
          <a:solidFill>
            <a:srgbClr val="EAF3FF"/>
          </a:solidFill>
          <a:ln w="12700">
            <a:solidFill>
              <a:srgbClr val="0071E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817998" y="1965960"/>
            <a:ext cx="205904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prototipo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133076" y="1965960"/>
            <a:ext cx="3508004" cy="2743200"/>
          </a:xfrm>
          <a:prstGeom prst="roundRect">
            <a:avLst>
              <a:gd name="adj" fmla="val 3000"/>
            </a:avLst>
          </a:prstGeom>
          <a:solidFill>
            <a:srgbClr val="EAF3FF"/>
          </a:solidFill>
          <a:ln w="12700">
            <a:solidFill>
              <a:srgbClr val="0071E3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76182" y="2606040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233" y="2693091"/>
            <a:ext cx="447690" cy="44769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133076" y="3520440"/>
            <a:ext cx="3508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demo (30–40 seg)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Y MERCADO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primer mercado: médicos y clínicas con alta carga documental.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98424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8928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325880" y="21945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y profesionales de salud.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709160" y="169164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920240"/>
            <a:ext cx="457200" cy="45720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98424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8928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Comprador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532120" y="21945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Clínicas, IPS, consultorios, directores médicos y gerentes administrativos.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02920" y="33375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PRIMEROS SEGMENTOS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02920" y="3657600"/>
            <a:ext cx="18059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3657600"/>
            <a:ext cx="18059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Consultorios privados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2473452" y="36576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473452" y="36576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Clínicas pequeñas y medianas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924044" y="3657600"/>
            <a:ext cx="16687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924044" y="3657600"/>
            <a:ext cx="16687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IPS de alto volumen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02920" y="4178808"/>
            <a:ext cx="32461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02920" y="4178808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Especialistas con documentación repetitiva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NEGOCIO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Ingresos recurrentes por uso médico e institucional.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863090" cy="2011680"/>
          </a:xfrm>
          <a:prstGeom prst="roundRect">
            <a:avLst>
              <a:gd name="adj" fmla="val 441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60145" y="1828800"/>
            <a:ext cx="548640" cy="54864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955" y="190561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" y="2514600"/>
            <a:ext cx="16436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pago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12648" y="3017520"/>
            <a:ext cx="16436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clínica o consultorio.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94610" y="1600200"/>
            <a:ext cx="1863090" cy="2011680"/>
          </a:xfrm>
          <a:prstGeom prst="roundRect">
            <a:avLst>
              <a:gd name="adj" fmla="val 441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51835" y="1828800"/>
            <a:ext cx="548640" cy="54864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645" y="190561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704338" y="2514600"/>
            <a:ext cx="16436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 mensual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2704338" y="3017520"/>
            <a:ext cx="16436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médico.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86300" y="1600200"/>
            <a:ext cx="1863090" cy="2011680"/>
          </a:xfrm>
          <a:prstGeom prst="roundRect">
            <a:avLst>
              <a:gd name="adj" fmla="val 441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343525" y="1828800"/>
            <a:ext cx="548640" cy="54864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0335" y="1905610"/>
            <a:ext cx="395021" cy="3950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796028" y="2514600"/>
            <a:ext cx="16436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institucional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4796028" y="3017520"/>
            <a:ext cx="16436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número de usuarios.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777990" y="1600200"/>
            <a:ext cx="1863090" cy="2011680"/>
          </a:xfrm>
          <a:prstGeom prst="roundRect">
            <a:avLst>
              <a:gd name="adj" fmla="val 441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435215" y="1828800"/>
            <a:ext cx="548640" cy="54864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2025" y="1905610"/>
            <a:ext cx="395021" cy="3950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87718" y="2514600"/>
            <a:ext cx="16436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 y soporte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6887718" y="3017520"/>
            <a:ext cx="16436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clínicas.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502920" y="39776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Empezamos con pilotos controlados y escalamos hacia contratos institucionales.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con capacidad técnica, comercial y sectorial.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66420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497" y="1734617"/>
            <a:ext cx="362102" cy="3621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DE SOFTWARE Y ARQUITECTURA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325880" y="2029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[Nombre]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325880" y="23225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[Rol]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09160" y="146304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10328" y="166420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0737" y="1734617"/>
            <a:ext cx="362102" cy="3621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IA, AUTOMATIZACIÓN Y PRODUCTO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5532120" y="2029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[Nombre]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532120" y="23225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[Rol]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02920" y="297180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" y="317296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7" y="3243377"/>
            <a:ext cx="362102" cy="36210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25880" y="31181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COMERCIAL, VENTAS Y VALIDACIÓN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1325880" y="3538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[Nombre]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325880" y="38313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[Rol]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709160" y="297180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910328" y="317296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0737" y="3243377"/>
            <a:ext cx="362102" cy="36210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532120" y="31181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LEGAL, CONTACTOS Y SECTOR SALUD</a:t>
            </a: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5532120" y="3538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[Nombre]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532120" y="38313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[Rol]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Tenemos la capacidad para construir, validar y vender la solución.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DEL INCENTIVO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$15M pasaremos de PMV funcional a piloto validado.</a:t>
            </a:r>
            <a:endParaRPr lang="en-US" sz="2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8138160" cy="914400"/>
        </p:xfrm>
        <a:graphic>
          <a:graphicData uri="http://schemas.openxmlformats.org/drawingml/2006/table">
            <a:tbl>
              <a:tblPr/>
              <a:tblGrid>
                <a:gridCol w="3418027"/>
                <a:gridCol w="1464869"/>
                <a:gridCol w="32552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E6E73"/>
                          </a:solidFill>
                        </a:rPr>
                        <a:t>Inversión</a:t>
                      </a:r>
                      <a:endParaRPr lang="en-US" sz="9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E6E73"/>
                          </a:solidFill>
                        </a:rPr>
                        <a:t>Monto sugerido</a:t>
                      </a:r>
                      <a:endParaRPr lang="en-US" sz="9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E6E73"/>
                          </a:solidFill>
                        </a:rPr>
                        <a:t>Objetivo</a:t>
                      </a:r>
                      <a:endParaRPr lang="en-US" sz="9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</a:rPr>
                        <a:t>Infraestructura, APIs y licencias IA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$4M–$5M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8484A"/>
                          </a:solidFill>
                        </a:rPr>
                        <a:t>Mejorar estabilidad y precisión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</a:rPr>
                        <a:t>Desarrollo técnico puntual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$4M–$5M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8484A"/>
                          </a:solidFill>
                        </a:rPr>
                        <a:t>Robustecer la versión piloto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</a:rPr>
                        <a:t>Pruebas técnicas y seguridad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$2M–$3M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8484A"/>
                          </a:solidFill>
                        </a:rPr>
                        <a:t>Preparar validación en entorno médico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</a:rPr>
                        <a:t>Captura de audio / hardware asociado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8484A"/>
                          </a:solidFill>
                        </a:rPr>
                        <a:t>Mejorar calidad de entrada de audio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</a:rPr>
                        <a:t>Material comercial y demo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Hasta $3M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8484A"/>
                          </a:solidFill>
                        </a:rPr>
                        <a:t>Conseguir pilotos y validación comercial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incentivo no es para iniciar desde cero; es para acelerar una solución que ya está en desarrollo.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60520" y="457200"/>
            <a:ext cx="822960" cy="82296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5734" y="572414"/>
            <a:ext cx="592531" cy="5925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1463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· CAPITAL SEMILLA 2026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640080" y="17830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Queremos devolverle tiempo clínico al médico.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914400" y="25603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Capital Semilla, Miracle puede avanzar de un PMV funcional a un piloto validado con usuarios reales del sector salud.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3383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documentando.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tiempo cuidando pacientes.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Miracle — Capital Semilla 2026</dc:title>
  <dc:subject>PptxGenJS Presentation</dc:subject>
  <dc:creator>Miracle</dc:creator>
  <cp:lastModifiedBy>Miracle</cp:lastModifiedBy>
  <cp:revision>1</cp:revision>
  <dcterms:created xsi:type="dcterms:W3CDTF">2026-07-10T03:22:09Z</dcterms:created>
  <dcterms:modified xsi:type="dcterms:W3CDTF">2026-07-10T03:22:09Z</dcterms:modified>
</cp:coreProperties>
</file>